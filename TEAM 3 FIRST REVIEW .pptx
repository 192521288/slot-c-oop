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3" r:id="rId2"/>
    <p:sldId id="274" r:id="rId3"/>
    <p:sldId id="282" r:id="rId4"/>
    <p:sldId id="275" r:id="rId5"/>
    <p:sldId id="277" r:id="rId6"/>
    <p:sldId id="288" r:id="rId7"/>
    <p:sldId id="256" r:id="rId8"/>
    <p:sldId id="283" r:id="rId9"/>
    <p:sldId id="284" r:id="rId10"/>
    <p:sldId id="285" r:id="rId11"/>
    <p:sldId id="286" r:id="rId12"/>
    <p:sldId id="287" r:id="rId13"/>
    <p:sldId id="279" r:id="rId14"/>
    <p:sldId id="280" r:id="rId15"/>
    <p:sldId id="28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65D937-D15C-4E9B-9B12-8EAC71904E72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3B7CC-D4F6-4372-BFF0-1FCD406D6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89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8A585-9011-A916-5954-BE5CDC52F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508B21-0144-D048-FD96-051A7DFABE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C1697-49A6-9618-2CDF-B95CF30DD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26C37-650B-44F9-9C24-38D064B5FDE5}" type="datetime1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3A2FE-BD45-B1EE-01EE-525872ED3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3CB45-0D31-ECC8-E101-9DEF89AEC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6A74A-54B0-4FBA-BC08-E6D8F472E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016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90324-974D-7733-8361-6B61763F2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CC475-4B2E-0BC0-36DC-141A5D9B5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89732-EBC6-5876-F372-2FC62824B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021CD-735A-4784-AC2D-7B836646132A}" type="datetime1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E34DE-2CFD-012E-8E89-763EA55E4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0229C-37D0-0713-1C00-329308B80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6A74A-54B0-4FBA-BC08-E6D8F472E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510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6387D-D1D8-E1DA-7302-B431B7D5F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BE1A5-FC17-3725-8273-19C58312C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004FE-1CC8-F898-8D69-F933FF491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9849C-C234-4970-BADB-F1C424833693}" type="datetime1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29635-F519-8BBE-EA4E-AAE569C4F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7552F-956D-3F34-145E-C746F0CCE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6A74A-54B0-4FBA-BC08-E6D8F472E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79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A8BD8-6DE3-92D0-6FE8-681402063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646C5-5272-EAFA-19AB-7AC3B50178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C25C43-AA2E-02A3-52C0-798A4DF59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0AB6A-6EE4-ED94-4939-D8C185E7A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E686F-55E9-4846-AD63-0CA8C5235648}" type="datetime1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EED7AC-CC32-861A-3317-F36BF1F28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60A92-8715-1DA0-9D2A-CE66792DE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6A74A-54B0-4FBA-BC08-E6D8F472E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990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0313E-FB79-19F1-DCFD-D810F16EA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4D722-0201-7E59-7565-4F1E7DCEA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C6DA63-9164-12DA-00EF-C959375D11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A1F72-C5DD-0ECE-B21E-1FDB6B137C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ED1CF8-A8EE-4843-59EE-54AE988E32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CDB487-B7AA-26C3-05D9-3B5D23326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1478A-7856-44B9-A882-B79EC1C40B05}" type="datetime1">
              <a:rPr lang="en-IN" smtClean="0"/>
              <a:t>27-10-2026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B3DF1D-A9E5-E6D9-1E5B-0BA4C3B9A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D23E0C-555A-40DC-DE5A-5EE570D65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6A74A-54B0-4FBA-BC08-E6D8F472E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84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DC0AA-170D-314A-309C-4641837FB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838AE1-FD7A-209E-321A-258A41A25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6C560-B697-4E82-94CA-06C60B66FA9E}" type="datetime1">
              <a:rPr lang="en-IN" smtClean="0"/>
              <a:t>27-10-2026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26202-53F5-2E4F-8C73-A50DA59D6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CF0D4-27FE-D624-5578-58841B798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6A74A-54B0-4FBA-BC08-E6D8F472E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005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8FD570-57F6-5C7A-AD3D-80605B9B9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8703D-1C50-482A-B20F-FE7C1D17722C}" type="datetime1">
              <a:rPr lang="en-IN" smtClean="0"/>
              <a:t>27-10-2026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27945C-4E75-7A8D-C61A-1E5CF6DA1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EADBA-7992-D791-2A79-13D1D2E6F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6A74A-54B0-4FBA-BC08-E6D8F472E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02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753F0-15A8-0DD3-999E-A8A493C65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6FDA8-B5AD-304C-5B42-30CE18530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0AB08C-4B3E-7493-D639-5A9BDDA19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B5973-206C-AF1E-AFC6-394C34C2C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A0AAB-1BB5-48EE-BA0B-488539C9C9B1}" type="datetime1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57E7D-4F35-5B23-1222-DD3FC13B9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ED9F0-F137-FD68-4C00-99F0FC62C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6A74A-54B0-4FBA-BC08-E6D8F472E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124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4FF20-BE5E-6F94-A999-32FB1299E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FA412F-194C-0A9B-9E7B-27B504F5144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8F95AA-A2DD-E5C4-898F-94F148CFD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BDAC6-915C-21B1-9FC0-2C6975571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1E728-4331-4102-8F11-FB6ACEFFF68D}" type="datetime1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69459E-C1A8-9796-2A5F-908B91CC8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D1ED3-A412-10D0-A593-CBF89DE5A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6A74A-54B0-4FBA-BC08-E6D8F472E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040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76D18-83CA-F4DA-9EDD-7166DD69F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557858-9EAD-0C36-E4A0-C4FB9166F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E0676-8182-6ACF-85FA-31059125F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8796-1E21-4ACB-A072-0B6111A44202}" type="datetime1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91B0B-55AE-C542-7D04-DA5796C37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5F209-3FEA-B5A8-E657-B467E66B6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6A74A-54B0-4FBA-BC08-E6D8F472E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741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648941-83D3-543B-2FDF-F30B279E5B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21CF46-5B8E-EEDD-5BDF-3330291C8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2F4D2-F4AF-5EF9-209F-43AF9D841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EA27-D45C-449C-87A3-FD8B20B115AD}" type="datetime1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D45E0-4AC7-4CB6-4935-3B38F1897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93F54-F564-0152-4C2C-B993FECA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6A74A-54B0-4FBA-BC08-E6D8F472E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798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7E426E-7E6C-1E1E-FD9B-F718B6A72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450B4-C51C-E9A8-725C-297C5B5CF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EBB63-1D3E-8369-51C7-47E7132E6E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3C8372-09BB-4F83-B8BE-D2C11C5B929B}" type="datetime1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BE5F2-E5DD-F964-A4E5-BD524C1C50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73123-C924-62EA-0C5A-BA0AAA815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76A74A-54B0-4FBA-BC08-E6D8F472E8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007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855FF5-4254-AC39-7421-5CA7D75D9B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398" y="4154747"/>
            <a:ext cx="4582162" cy="1565333"/>
          </a:xfrm>
        </p:spPr>
        <p:txBody>
          <a:bodyPr>
            <a:noAutofit/>
          </a:bodyPr>
          <a:lstStyle/>
          <a:p>
            <a:pPr lvl="0" algn="l">
              <a:spcBef>
                <a:spcPts val="0"/>
              </a:spcBef>
            </a:pPr>
            <a:r>
              <a:rPr lang="en-IN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</a:t>
            </a:r>
          </a:p>
          <a:p>
            <a:pPr marL="171450" algn="l">
              <a:spcBef>
                <a:spcPts val="62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 Jegadeesh K</a:t>
            </a:r>
          </a:p>
          <a:p>
            <a:pPr marL="171450" algn="l">
              <a:lnSpc>
                <a:spcPct val="100000"/>
              </a:lnSpc>
              <a:spcBef>
                <a:spcPts val="620"/>
              </a:spcBef>
            </a:pPr>
            <a:r>
              <a:rPr lang="en-US" sz="2000" b="1" dirty="0">
                <a:latin typeface="Times New Roman"/>
                <a:cs typeface="Times New Roman"/>
              </a:rPr>
              <a:t>Industrial Professional</a:t>
            </a:r>
          </a:p>
          <a:p>
            <a:pPr marL="171450" algn="l">
              <a:lnSpc>
                <a:spcPct val="100000"/>
              </a:lnSpc>
              <a:spcBef>
                <a:spcPts val="620"/>
              </a:spcBef>
            </a:pPr>
            <a:r>
              <a:rPr lang="en-US" sz="2000" b="1" dirty="0">
                <a:latin typeface="Times New Roman"/>
                <a:cs typeface="Times New Roman"/>
              </a:rPr>
              <a:t>Coimbatore - 641014</a:t>
            </a:r>
          </a:p>
          <a:p>
            <a:pPr lvl="0" algn="l">
              <a:lnSpc>
                <a:spcPct val="100000"/>
              </a:lnSpc>
              <a:spcBef>
                <a:spcPts val="0"/>
              </a:spcBef>
            </a:pPr>
            <a:r>
              <a:rPr lang="en-IN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lang="en-US" altLang="en-GB" sz="20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D948700D-A995-D00B-4A9C-9809111C7324}"/>
              </a:ext>
            </a:extLst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70527" y="111760"/>
            <a:ext cx="11650945" cy="12011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63B58F-D42F-6E57-FB31-A736C7C2B260}"/>
              </a:ext>
            </a:extLst>
          </p:cNvPr>
          <p:cNvSpPr txBox="1"/>
          <p:nvPr/>
        </p:nvSpPr>
        <p:spPr>
          <a:xfrm>
            <a:off x="634206" y="1647680"/>
            <a:ext cx="109235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ResQRoute: Intelligent Emergency Vehicle Dispatch and Route Prioritization System</a:t>
            </a:r>
            <a:endParaRPr lang="en-IN" alt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202063-6E96-B71C-DEFA-062267E50C1C}"/>
              </a:ext>
            </a:extLst>
          </p:cNvPr>
          <p:cNvSpPr txBox="1"/>
          <p:nvPr/>
        </p:nvSpPr>
        <p:spPr>
          <a:xfrm>
            <a:off x="8016240" y="3938171"/>
            <a:ext cx="3190240" cy="1987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AJAY U </a:t>
            </a:r>
            <a:r>
              <a:rPr lang="en-I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(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192421237</a:t>
            </a:r>
            <a:r>
              <a:rPr lang="en-I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ELAMARAN S </a:t>
            </a:r>
            <a:r>
              <a:rPr lang="en-I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(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192524246</a:t>
            </a:r>
            <a:r>
              <a:rPr lang="en-I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ANISH K (192521288)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KALAICHELVAN J </a:t>
            </a:r>
            <a:r>
              <a:rPr lang="en-I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(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192421298</a:t>
            </a:r>
            <a:r>
              <a:rPr lang="en-IN" altLang="en-US" sz="1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577D9F-46D6-5E5B-578C-A45EB18DD7AE}"/>
              </a:ext>
            </a:extLst>
          </p:cNvPr>
          <p:cNvSpPr txBox="1"/>
          <p:nvPr/>
        </p:nvSpPr>
        <p:spPr>
          <a:xfrm>
            <a:off x="634205" y="2936557"/>
            <a:ext cx="1092358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sz="3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DSA0107 - OBJECT ORIENTED PROGRAMMING WITH C++</a:t>
            </a:r>
            <a:endParaRPr lang="en-IN" sz="3000" b="1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D3E990A-5352-8236-0126-CA352109F4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0196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C6F15-E779-A263-F1C1-A4E7FED9A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D31DF-7CC9-F9E2-26B2-B9CBF4761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190" y="1528128"/>
            <a:ext cx="10675620" cy="5047614"/>
          </a:xfrm>
        </p:spPr>
        <p:txBody>
          <a:bodyPr>
            <a:no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ResQRoute is an intelligent system for managing emergency vehicle dispatch and route selection.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assigns available ambulances to emergencies based on urgency, distance, and vehicle availability.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a Counterfactual Look-Ahead Dispatch Optimization algorithm to evaluate possible ambulance assignments before making a decision.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considers future emergencies, road closures, and the need to maintain ambulance availability in different areas.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compares different dispatch strategies using response time, travel distance, and emergency-handling performance. 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Emergency Vehicle Dispatch, Ambulance Routing, C++ OOP, Look-Ahead Optimization, Dynamic Routing, Emergency Prioritization.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B4BD7B99-16C0-DDB0-E7BD-99CFC9BCE16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186" y="119698"/>
            <a:ext cx="1135116" cy="103632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028F7970-2E8C-D972-5822-F4BAF10A488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7698" y="119698"/>
            <a:ext cx="1241721" cy="10363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C7618E-EFCF-49BC-9594-BFF3C4A0B97A}"/>
              </a:ext>
            </a:extLst>
          </p:cNvPr>
          <p:cNvSpPr txBox="1"/>
          <p:nvPr/>
        </p:nvSpPr>
        <p:spPr>
          <a:xfrm>
            <a:off x="4145280" y="509687"/>
            <a:ext cx="3901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050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44047-6FEE-9788-8512-8787BD171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680" y="681037"/>
            <a:ext cx="4866640" cy="632301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C1307-C9A0-7F8E-C094-E126576F7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>
              <a:lnSpc>
                <a:spcPct val="125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dispatch systems often select the nearest available ambulance for an emergency. </a:t>
            </a:r>
          </a:p>
          <a:p>
            <a:pPr lvl="0">
              <a:lnSpc>
                <a:spcPct val="125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the nearest ambulance may leave other areas without sufficient emergency coverage. </a:t>
            </a:r>
          </a:p>
          <a:p>
            <a:pPr lvl="0">
              <a:lnSpc>
                <a:spcPct val="125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emergencies occurring at the same time can make ambulance assignment difficult. </a:t>
            </a:r>
          </a:p>
          <a:p>
            <a:pPr lvl="0">
              <a:lnSpc>
                <a:spcPct val="125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closures and unreachable destinations can increase response time. </a:t>
            </a:r>
          </a:p>
          <a:p>
            <a:pPr lvl="0">
              <a:lnSpc>
                <a:spcPct val="125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smarter system is needed to evaluate ambulance assignments and their possible future effects before making dispatch decisions.</a:t>
            </a:r>
          </a:p>
          <a:p>
            <a:pPr>
              <a:lnSpc>
                <a:spcPct val="125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A92F15C9-7D0B-F959-465E-7E159C80A0C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186" y="282258"/>
            <a:ext cx="1135116" cy="103632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36E3DA62-9E2A-6B96-B83F-D4C376E4228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7698" y="244156"/>
            <a:ext cx="1241721" cy="103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215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70288-6A3A-93FB-9E6F-57F226CC4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0706A-7385-5F17-4C73-B5E3AC6E3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9550" y="1867585"/>
            <a:ext cx="9232900" cy="3889007"/>
          </a:xfrm>
        </p:spPr>
        <p:txBody>
          <a:bodyPr>
            <a:noAutofit/>
          </a:bodyPr>
          <a:lstStyle/>
          <a:p>
            <a:pPr lvl="0">
              <a:lnSpc>
                <a:spcPct val="125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prioritize emergencies based on their severity and urgency.</a:t>
            </a:r>
          </a:p>
          <a:p>
            <a:pPr lvl="0">
              <a:lnSpc>
                <a:spcPct val="125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assign suitable available ambulances to emergency incidents.</a:t>
            </a:r>
          </a:p>
          <a:p>
            <a:pPr lvl="0">
              <a:lnSpc>
                <a:spcPct val="125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look-ahead algorithm that evaluates multiple possible dispatch decisions.</a:t>
            </a:r>
          </a:p>
          <a:p>
            <a:pPr lvl="0">
              <a:lnSpc>
                <a:spcPct val="125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calculate routes while considering road closures and alternate paths.</a:t>
            </a:r>
          </a:p>
          <a:p>
            <a:pPr lvl="0">
              <a:lnSpc>
                <a:spcPct val="125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the proposed system with existing dispatch strategies using measurable performance results.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0ADB8936-58FE-C976-C088-9B210820C3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186" y="231458"/>
            <a:ext cx="1135116" cy="103632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9A8D82B1-7999-80BE-509D-993BD744AE3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7698" y="231458"/>
            <a:ext cx="1241721" cy="10363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A4692A-52F2-6C01-9258-632D40A41735}"/>
              </a:ext>
            </a:extLst>
          </p:cNvPr>
          <p:cNvSpPr txBox="1"/>
          <p:nvPr/>
        </p:nvSpPr>
        <p:spPr>
          <a:xfrm>
            <a:off x="4490720" y="832852"/>
            <a:ext cx="3210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928031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3A24A-37B5-9285-E4BB-B05212491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A3F9-A720-155D-4ABD-B1A9BEFCE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6790" y="1513939"/>
            <a:ext cx="10218420" cy="4773413"/>
          </a:xfrm>
        </p:spPr>
        <p:txBody>
          <a:bodyPr>
            <a:noAutofit/>
          </a:bodyPr>
          <a:lstStyle/>
          <a:p>
            <a:pPr lvl="0"/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Dynamic emergency prioritization: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Updates incident priority based on severity and waiting time. </a:t>
            </a:r>
          </a:p>
          <a:p>
            <a:pPr lvl="0"/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Candidate assignment evaluation: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Considers feasible ambulance assignments for the current emergency. </a:t>
            </a:r>
          </a:p>
          <a:p>
            <a:pPr lvl="0"/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Look-ahead decision-making: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Estimates the consequences of each assignment under a bounded set of upcoming emergency scenarios. </a:t>
            </a:r>
          </a:p>
          <a:p>
            <a:pPr lvl="0"/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Coverage-aware dispatch: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Evaluates the ambulance coverage remaining after each assignment. </a:t>
            </a:r>
          </a:p>
          <a:p>
            <a:pPr lvl="0"/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Road-disruption-aware routing: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Recalculates routes and travel costs when roads become unavailable. </a:t>
            </a:r>
          </a:p>
          <a:p>
            <a:pPr lvl="0"/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validation: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Compares the proposed algorithm against nearest-ambulance and immediate-scoring baselines.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093DDBE2-04CA-3CB1-7D1E-10325C9E182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186" y="272098"/>
            <a:ext cx="1135116" cy="103632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2581037F-70C2-C4D9-C960-3501DAFC59D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7698" y="272098"/>
            <a:ext cx="1241721" cy="10363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6B3384-E17A-4216-4087-F8B7062610C1}"/>
              </a:ext>
            </a:extLst>
          </p:cNvPr>
          <p:cNvSpPr txBox="1"/>
          <p:nvPr/>
        </p:nvSpPr>
        <p:spPr>
          <a:xfrm>
            <a:off x="3677920" y="570647"/>
            <a:ext cx="4836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alt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91192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D83B4-BE34-CDEA-79C5-CA7B01117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9205" y="239554"/>
            <a:ext cx="4593590" cy="776288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983FD-A79A-66D4-A873-EDA11410D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6984"/>
            <a:ext cx="10515600" cy="5341462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Priority-Based Scheduling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Prioritizes emergencies based on severity and waiting time.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Counterfactual Look-Ahead Optimization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Evaluates alternative ambulance assignments and their possible future effects.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Dijkstra’s Shortest Path Algorithm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Finds the shortest available route to the emergency location.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Graph-Based Road Network Modeling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Represents locations as nodes and roads as weighted edges.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Route Recalculation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Finds alternative routes when roads are closed.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Ambulance Coverage Assessment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Evaluates the remaining ambulance availability in different areas after dispatch.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Compares the proposed approach with nearest-ambulance and immediate-scoring strategies.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 and Objects, Constructors, Destructors, Encapsulation, Inheritance, Polymorphism, Function Overloading, Operator Overloading, Virtual Functions, Abstract Classes, Exception Handling, STL (Standard Template Library)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3D740F1-A01E-DE41-738B-12678144771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186" y="89218"/>
            <a:ext cx="1135116" cy="103632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5B0B189C-5881-A5AC-2473-547029C7BEA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7698" y="89218"/>
            <a:ext cx="1241721" cy="103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214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er input container"/>
          <p:cNvSpPr/>
          <p:nvPr/>
        </p:nvSpPr>
        <p:spPr>
          <a:xfrm>
            <a:off x="457200" y="1305560"/>
            <a:ext cx="11274552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8EA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User input heading"/>
          <p:cNvSpPr txBox="1"/>
          <p:nvPr/>
        </p:nvSpPr>
        <p:spPr>
          <a:xfrm>
            <a:off x="594360" y="133299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INPUT</a:t>
            </a:r>
          </a:p>
        </p:txBody>
      </p:sp>
      <p:sp>
        <p:nvSpPr>
          <p:cNvPr id="6" name="Input - Emergency Details"/>
          <p:cNvSpPr/>
          <p:nvPr/>
        </p:nvSpPr>
        <p:spPr>
          <a:xfrm>
            <a:off x="594360" y="1625600"/>
            <a:ext cx="2651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Emergency Details</a:t>
            </a:r>
          </a:p>
        </p:txBody>
      </p:sp>
      <p:sp>
        <p:nvSpPr>
          <p:cNvPr id="7" name="Input - Ambulance Information"/>
          <p:cNvSpPr/>
          <p:nvPr/>
        </p:nvSpPr>
        <p:spPr>
          <a:xfrm>
            <a:off x="3383279" y="1625600"/>
            <a:ext cx="2651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Ambulance Information</a:t>
            </a:r>
          </a:p>
        </p:txBody>
      </p:sp>
      <p:sp>
        <p:nvSpPr>
          <p:cNvPr id="8" name="Input - Road Network"/>
          <p:cNvSpPr/>
          <p:nvPr/>
        </p:nvSpPr>
        <p:spPr>
          <a:xfrm>
            <a:off x="6172200" y="1625600"/>
            <a:ext cx="2651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Road Network</a:t>
            </a:r>
          </a:p>
        </p:txBody>
      </p:sp>
      <p:sp>
        <p:nvSpPr>
          <p:cNvPr id="9" name="Input - Road Closure Events"/>
          <p:cNvSpPr/>
          <p:nvPr/>
        </p:nvSpPr>
        <p:spPr>
          <a:xfrm>
            <a:off x="8961119" y="1625600"/>
            <a:ext cx="2651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Road Closure Events</a:t>
            </a:r>
          </a:p>
        </p:txBody>
      </p:sp>
      <p:sp>
        <p:nvSpPr>
          <p:cNvPr id="10" name="Module 1"/>
          <p:cNvSpPr/>
          <p:nvPr/>
        </p:nvSpPr>
        <p:spPr>
          <a:xfrm>
            <a:off x="2194560" y="2540000"/>
            <a:ext cx="7799831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>
            <a:noAutofit/>
          </a:bodyPr>
          <a:lstStyle/>
          <a:p>
            <a:pPr algn="ctr"/>
            <a:r>
              <a:rPr sz="1400" b="1" i="0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— Emergency Prioritization</a:t>
            </a:r>
          </a:p>
          <a:p>
            <a:pPr algn="ctr"/>
            <a:r>
              <a:rPr sz="1400" b="0" i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Severity + waiting time → priority score → pending queue</a:t>
            </a:r>
          </a:p>
        </p:txBody>
      </p:sp>
      <p:sp>
        <p:nvSpPr>
          <p:cNvPr id="11" name="Module 2"/>
          <p:cNvSpPr/>
          <p:nvPr/>
        </p:nvSpPr>
        <p:spPr>
          <a:xfrm>
            <a:off x="457200" y="3637280"/>
            <a:ext cx="5120640" cy="1051560"/>
          </a:xfrm>
          <a:prstGeom prst="roundRect">
            <a:avLst>
              <a:gd name="adj" fmla="val 12000"/>
            </a:avLst>
          </a:prstGeom>
          <a:solidFill>
            <a:srgbClr val="EAF2FA"/>
          </a:solidFill>
          <a:ln w="381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>
            <a:noAutofit/>
          </a:bodyPr>
          <a:lstStyle/>
          <a:p>
            <a:pPr algn="ctr"/>
            <a:r>
              <a:rPr sz="1400" b="1" i="0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— Look-Ahead Dispatch Optimization</a:t>
            </a:r>
          </a:p>
          <a:p>
            <a:pPr algn="ctr"/>
            <a:r>
              <a:rPr sz="1400" b="0" i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contribution: evaluates candidate ambulance assignments, simulates bounded future scenarios, selects the best feasible one</a:t>
            </a:r>
          </a:p>
        </p:txBody>
      </p:sp>
      <p:sp>
        <p:nvSpPr>
          <p:cNvPr id="12" name="Module 3"/>
          <p:cNvSpPr/>
          <p:nvPr/>
        </p:nvSpPr>
        <p:spPr>
          <a:xfrm>
            <a:off x="6611112" y="3637280"/>
            <a:ext cx="51206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>
            <a:noAutofit/>
          </a:bodyPr>
          <a:lstStyle/>
          <a:p>
            <a:pPr algn="ctr"/>
            <a:r>
              <a:rPr sz="1400" b="1" i="0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 — Routing &amp; Coverage Assessment</a:t>
            </a:r>
          </a:p>
          <a:p>
            <a:pPr algn="ctr"/>
            <a:r>
              <a:rPr sz="1400" b="0" i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 shortest path, road closures, alternative routes, remaining ambulance coverage</a:t>
            </a:r>
          </a:p>
        </p:txBody>
      </p:sp>
      <p:cxnSp>
        <p:nvCxnSpPr>
          <p:cNvPr id="13" name="Request"/>
          <p:cNvCxnSpPr>
            <a:cxnSpLocks/>
          </p:cNvCxnSpPr>
          <p:nvPr/>
        </p:nvCxnSpPr>
        <p:spPr>
          <a:xfrm flipV="1">
            <a:off x="5577840" y="4071620"/>
            <a:ext cx="1033272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Label request"/>
          <p:cNvSpPr txBox="1"/>
          <p:nvPr/>
        </p:nvSpPr>
        <p:spPr>
          <a:xfrm>
            <a:off x="5577840" y="3409694"/>
            <a:ext cx="10058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1" i="0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 costs &amp; coverage</a:t>
            </a:r>
          </a:p>
        </p:txBody>
      </p:sp>
      <p:cxnSp>
        <p:nvCxnSpPr>
          <p:cNvPr id="15" name="Feedback"/>
          <p:cNvCxnSpPr/>
          <p:nvPr/>
        </p:nvCxnSpPr>
        <p:spPr>
          <a:xfrm flipH="1">
            <a:off x="5577840" y="4176774"/>
            <a:ext cx="1033272" cy="0"/>
          </a:xfrm>
          <a:prstGeom prst="line">
            <a:avLst/>
          </a:prstGeom>
          <a:ln w="25400">
            <a:solidFill>
              <a:srgbClr val="2E75B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Label feedback"/>
          <p:cNvSpPr txBox="1"/>
          <p:nvPr/>
        </p:nvSpPr>
        <p:spPr>
          <a:xfrm>
            <a:off x="5596128" y="4166614"/>
            <a:ext cx="1005840" cy="70307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0" i="0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Travel time, route costs, coverage</a:t>
            </a:r>
          </a:p>
        </p:txBody>
      </p:sp>
      <p:sp>
        <p:nvSpPr>
          <p:cNvPr id="17" name="Output"/>
          <p:cNvSpPr/>
          <p:nvPr/>
        </p:nvSpPr>
        <p:spPr>
          <a:xfrm>
            <a:off x="2194560" y="5054600"/>
            <a:ext cx="7799831" cy="6400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EA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>
            <a:noAutofit/>
          </a:bodyPr>
          <a:lstStyle/>
          <a:p>
            <a:pPr algn="ctr"/>
            <a:r>
              <a:rPr sz="1400" b="1" i="0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Output</a:t>
            </a:r>
          </a:p>
          <a:p>
            <a:pPr algn="ctr"/>
            <a:r>
              <a:rPr sz="1400" b="0" i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Recommended assignment • Route &amp; ETA • Status • Coverage alerts</a:t>
            </a:r>
          </a:p>
        </p:txBody>
      </p:sp>
      <p:sp>
        <p:nvSpPr>
          <p:cNvPr id="18" name="Module 4"/>
          <p:cNvSpPr/>
          <p:nvPr/>
        </p:nvSpPr>
        <p:spPr>
          <a:xfrm>
            <a:off x="457200" y="5969000"/>
            <a:ext cx="5669280" cy="64008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5875">
            <a:solidFill>
              <a:srgbClr val="2E75B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>
            <a:no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 — Performance Evaluation</a:t>
            </a:r>
          </a:p>
          <a:p>
            <a:pPr algn="ctr"/>
            <a:r>
              <a:rPr sz="14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Compares nearest-ambulance, scoring baseline and look-ahead (offline testing)</a:t>
            </a:r>
          </a:p>
        </p:txBody>
      </p:sp>
      <p:cxnSp>
        <p:nvCxnSpPr>
          <p:cNvPr id="19" name="Input to Module 1"/>
          <p:cNvCxnSpPr>
            <a:stCxn id="4" idx="2"/>
            <a:endCxn id="10" idx="0"/>
          </p:cNvCxnSpPr>
          <p:nvPr/>
        </p:nvCxnSpPr>
        <p:spPr>
          <a:xfrm flipH="1">
            <a:off x="6094475" y="2174240"/>
            <a:ext cx="1" cy="36576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Module 1 to Module 2"/>
          <p:cNvCxnSpPr>
            <a:stCxn id="10" idx="2"/>
            <a:endCxn id="11" idx="0"/>
          </p:cNvCxnSpPr>
          <p:nvPr/>
        </p:nvCxnSpPr>
        <p:spPr>
          <a:xfrm rot="5400000">
            <a:off x="4327397" y="1870202"/>
            <a:ext cx="457200" cy="3076955"/>
          </a:xfrm>
          <a:prstGeom prst="bentConnector3">
            <a:avLst>
              <a:gd name="adj1" fmla="val 50000"/>
            </a:avLst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Module 2 to output"/>
          <p:cNvCxnSpPr>
            <a:stCxn id="11" idx="2"/>
            <a:endCxn id="17" idx="0"/>
          </p:cNvCxnSpPr>
          <p:nvPr/>
        </p:nvCxnSpPr>
        <p:spPr>
          <a:xfrm rot="5400000" flipV="1">
            <a:off x="4373117" y="3333242"/>
            <a:ext cx="365760" cy="3076955"/>
          </a:xfrm>
          <a:prstGeom prst="bentConnector3">
            <a:avLst>
              <a:gd name="adj1" fmla="val 50000"/>
            </a:avLst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Module 3 to output"/>
          <p:cNvCxnSpPr>
            <a:stCxn id="12" idx="2"/>
            <a:endCxn id="17" idx="0"/>
          </p:cNvCxnSpPr>
          <p:nvPr/>
        </p:nvCxnSpPr>
        <p:spPr>
          <a:xfrm rot="5400000">
            <a:off x="7450073" y="3333241"/>
            <a:ext cx="365760" cy="3076957"/>
          </a:xfrm>
          <a:prstGeom prst="bentConnector3">
            <a:avLst>
              <a:gd name="adj1" fmla="val 50000"/>
            </a:avLst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Module 4 report to output"/>
          <p:cNvCxnSpPr>
            <a:stCxn id="18" idx="0"/>
            <a:endCxn id="17" idx="2"/>
          </p:cNvCxnSpPr>
          <p:nvPr/>
        </p:nvCxnSpPr>
        <p:spPr>
          <a:xfrm flipV="1">
            <a:off x="3291840" y="5694680"/>
            <a:ext cx="2802635" cy="274320"/>
          </a:xfrm>
          <a:prstGeom prst="line">
            <a:avLst/>
          </a:prstGeom>
          <a:ln w="19050">
            <a:solidFill>
              <a:srgbClr val="2E75B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OP foundation"/>
          <p:cNvSpPr txBox="1"/>
          <p:nvPr/>
        </p:nvSpPr>
        <p:spPr>
          <a:xfrm>
            <a:off x="6400800" y="601472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 OOP foundation: Classes &amp; Objects • Inheritance • Virtual Functions • Runtime Polymorphism • Operator Overloading • Exception Handling</a:t>
            </a:r>
          </a:p>
        </p:txBody>
      </p:sp>
      <p:pic>
        <p:nvPicPr>
          <p:cNvPr id="26" name="object 3">
            <a:extLst>
              <a:ext uri="{FF2B5EF4-FFF2-40B4-BE49-F238E27FC236}">
                <a16:creationId xmlns:a16="http://schemas.microsoft.com/office/drawing/2014/main" id="{31C0D60A-65C6-6A6C-CAE7-D3024144DF9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547" y="144562"/>
            <a:ext cx="1135116" cy="868679"/>
          </a:xfrm>
          <a:prstGeom prst="rect">
            <a:avLst/>
          </a:prstGeom>
        </p:spPr>
      </p:pic>
      <p:pic>
        <p:nvPicPr>
          <p:cNvPr id="28" name="object 4">
            <a:extLst>
              <a:ext uri="{FF2B5EF4-FFF2-40B4-BE49-F238E27FC236}">
                <a16:creationId xmlns:a16="http://schemas.microsoft.com/office/drawing/2014/main" id="{95C5A36C-48C0-FE09-8F99-EFB9C575047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1378" y="164401"/>
            <a:ext cx="1241721" cy="86867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9492588-611F-2FE8-A16B-A43CDA408BC1}"/>
              </a:ext>
            </a:extLst>
          </p:cNvPr>
          <p:cNvSpPr txBox="1"/>
          <p:nvPr/>
        </p:nvSpPr>
        <p:spPr>
          <a:xfrm>
            <a:off x="2959100" y="339189"/>
            <a:ext cx="63347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>
              <a:buNone/>
            </a:pPr>
            <a:r>
              <a:rPr lang="en-IN" sz="36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 </a:t>
            </a:r>
            <a:endParaRPr lang="en-IN" sz="3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1311F-B4ED-FE88-F8AD-3F22D3901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302" y="742474"/>
            <a:ext cx="8963396" cy="827088"/>
          </a:xfrm>
        </p:spPr>
        <p:txBody>
          <a:bodyPr>
            <a:noAutofit/>
          </a:bodyPr>
          <a:lstStyle/>
          <a:p>
            <a:pPr algn="ctr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1:DYNAMIC EMERGENCY PRIORITIZATION AND INCIDENT STATE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C8188-282F-8361-AD8C-4C3561608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540" y="1834991"/>
            <a:ext cx="8884920" cy="4280535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emergency details, including location and severity.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 priority levels based on emergency urgency.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incident status and availability information.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priorities when emergency conditions change.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prioritized incidents to the dispatch module.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prioritized list of emergency incidents ready for ambulance assignment.</a:t>
            </a:r>
          </a:p>
          <a:p>
            <a:pPr>
              <a:lnSpc>
                <a:spcPct val="12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31F33EF7-23B6-4731-6A9B-0D4BE028893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906" y="119698"/>
            <a:ext cx="1135116" cy="103632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A1AFDB73-977F-8612-A3E5-C1ABEC92877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58978" y="119698"/>
            <a:ext cx="1241721" cy="103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978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3DCF6-EF37-198B-9B35-A93A6BC9C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390" y="676276"/>
            <a:ext cx="7729220" cy="1036320"/>
          </a:xfrm>
        </p:spPr>
        <p:txBody>
          <a:bodyPr>
            <a:noAutofit/>
          </a:bodyPr>
          <a:lstStyle/>
          <a:p>
            <a:pPr algn="ctr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COUNTERFACTUAL LOOK-AHEAD AMBULANCE DISPATCH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96A3D-3CB4-F175-0979-BCD55C303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3340" y="1898012"/>
            <a:ext cx="9545320" cy="4283712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available ambulances for each emergency.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multiple feasible ambulance assignments.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immediate response cost for each assignment.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possible future emergencies and ambulance coverage. 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a feasible assignment based on the calculated total cost.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selected ambulance assignment with estimated response time and decision cost.</a:t>
            </a:r>
          </a:p>
          <a:p>
            <a:pPr>
              <a:lnSpc>
                <a:spcPct val="12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6841884F-33C6-EFB4-E69F-CBD840B384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186" y="119698"/>
            <a:ext cx="1135116" cy="1036320"/>
          </a:xfrm>
          <a:prstGeom prst="rect">
            <a:avLst/>
          </a:prstGeom>
        </p:spPr>
      </p:pic>
      <p:pic>
        <p:nvPicPr>
          <p:cNvPr id="9" name="object 4">
            <a:extLst>
              <a:ext uri="{FF2B5EF4-FFF2-40B4-BE49-F238E27FC236}">
                <a16:creationId xmlns:a16="http://schemas.microsoft.com/office/drawing/2014/main" id="{064C093F-0EBC-058D-4A7D-BABF9B03D93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7698" y="119698"/>
            <a:ext cx="1241721" cy="103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671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33095-6911-A237-1A9C-7F86263EC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3918" y="711994"/>
            <a:ext cx="8344164" cy="908368"/>
          </a:xfrm>
        </p:spPr>
        <p:txBody>
          <a:bodyPr>
            <a:normAutofit/>
          </a:bodyPr>
          <a:lstStyle/>
          <a:p>
            <a:pPr algn="ctr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ROAD-DISRUPTION-AWARE ROUTING AND AMBULANCE COVERAGE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E220C-8A6A-6027-599E-077A9F75F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8501" y="1784191"/>
            <a:ext cx="9294998" cy="4636929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roads and locations as a weighted graph. </a:t>
            </a:r>
          </a:p>
          <a:p>
            <a:pPr lvl="0">
              <a:lnSpc>
                <a:spcPct val="120000"/>
              </a:lnSpc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routes between ambulances and emergency locations. </a:t>
            </a:r>
          </a:p>
          <a:p>
            <a:pPr lvl="0">
              <a:lnSpc>
                <a:spcPct val="120000"/>
              </a:lnSpc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road closures and avoids unavailable roads. </a:t>
            </a:r>
          </a:p>
          <a:p>
            <a:pPr lvl="0">
              <a:lnSpc>
                <a:spcPct val="120000"/>
              </a:lnSpc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alternative routes when possible. </a:t>
            </a:r>
          </a:p>
          <a:p>
            <a:pPr lvl="0">
              <a:lnSpc>
                <a:spcPct val="120000"/>
              </a:lnSpc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the effect of dispatching an ambulance on remaining coverage.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feasible route with estimated travel time, distance, and remaining ambulance coverage.</a:t>
            </a:r>
          </a:p>
          <a:p>
            <a:pPr>
              <a:lnSpc>
                <a:spcPct val="120000"/>
              </a:lnSpc>
            </a:pPr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D343524-BBE9-34F3-1DFD-438B9D68E7E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186" y="129858"/>
            <a:ext cx="1135116" cy="103632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83DCFFF0-5889-6C97-1381-56F73F9CC44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7698" y="129858"/>
            <a:ext cx="1241721" cy="103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670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85BCF-184C-F279-EC46-B8AB79CF1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380" y="742474"/>
            <a:ext cx="8905240" cy="827088"/>
          </a:xfrm>
        </p:spPr>
        <p:txBody>
          <a:bodyPr>
            <a:normAutofit/>
          </a:bodyPr>
          <a:lstStyle/>
          <a:p>
            <a:pPr algn="ctr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MULTI-SCENARIO PERFORMANCE EVALUATION AND DISPATCH STRATEGY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990BD-DBE4-534E-BF4C-B44E6F09B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620" y="1927225"/>
            <a:ext cx="10144760" cy="4351338"/>
          </a:xfrm>
        </p:spPr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Tests the system under different emergency scenarios.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nearest-ambulance dispatch with priority-and-coverage scoring.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the proposed look-ahead optimization algorithm.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response time, travel distance, coverage, and computation time.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comparative results using tables and charts.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performance comparison report showing the results, strengths, and limitations of the three dispatch strategies.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4FFE8C6D-E3B0-AE9A-D3E3-31D853963DD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186" y="119698"/>
            <a:ext cx="1135116" cy="103632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C515CCCB-72D6-FA55-076B-E46E9EF32DE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7698" y="119698"/>
            <a:ext cx="1241721" cy="103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026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8C321-72D5-9283-A2A3-2EA69AB33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2140" y="637858"/>
            <a:ext cx="3347720" cy="654368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34085-675D-1D90-4433-98E4EF3CF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1927"/>
            <a:ext cx="10515600" cy="4859655"/>
          </a:xfrm>
        </p:spPr>
        <p:txBody>
          <a:bodyPr>
            <a:noAutofit/>
          </a:bodyPr>
          <a:lstStyle/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Priority-Based Emergency Handling: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Prioritizes critical emergencies based on their severity and urgency.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Ambulance Assignment: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Evaluates multiple ambulance options instead of selecting only the nearest ambulance.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Emergency Planning: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Considers possible future emergencies before making dispatch decisions.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Route Management: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Finds alternative routes when roads are closed or unavailable.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Ambulance Coverage: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Considers the availability of ambulances in different areas after dispatch. 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Compares dispatch strategies using response time, travel distance, and computation time.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C4A26C47-3CA8-E967-0B11-85AC22304F1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186" y="119698"/>
            <a:ext cx="1135116" cy="103632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C8AF22B3-0302-CDB1-FAEE-8AA4BBFCB1A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7698" y="119698"/>
            <a:ext cx="1241721" cy="103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424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DAF05-76EF-8CE8-1AF2-ECC749A44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91F06-03C5-E016-E5A5-0D5F1F30F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6115"/>
            <a:ext cx="10515600" cy="4023995"/>
          </a:xfrm>
        </p:spPr>
        <p:txBody>
          <a:bodyPr>
            <a:noAutofit/>
          </a:bodyPr>
          <a:lstStyle/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ResQRoute simulates emergency triage, ambulance dispatch, and dynamic route planning in C++.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core contribution is a bounded look-ahead algorithm that projects downstream impacts before assigning units.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actively accounts for dynamic emergency severity, remaining fleet coverage, and road disruptions.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Nearest-unit and greedy heuristics serve as benchmark baselines to evaluate performance gains.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Benchmarks assess response latency, critical waiting windows, coverage degradation, distance, and runtime.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C958ED30-22E0-027D-3D81-A414F421CF9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186" y="119698"/>
            <a:ext cx="1135116" cy="103632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BBA65781-C6A0-11EE-FD22-8B50973E657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7698" y="119698"/>
            <a:ext cx="1241721" cy="10363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D2A9E9-B500-D1A8-4A0A-8623509F6C40}"/>
              </a:ext>
            </a:extLst>
          </p:cNvPr>
          <p:cNvSpPr txBox="1"/>
          <p:nvPr/>
        </p:nvSpPr>
        <p:spPr>
          <a:xfrm>
            <a:off x="4386580" y="476252"/>
            <a:ext cx="3418840" cy="82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004101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09D33-7274-D9E1-9AC0-20998C305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073E8-2BEF-AB69-5F09-063806780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444"/>
            <a:ext cx="10515600" cy="4643755"/>
          </a:xfrm>
        </p:spPr>
        <p:txBody>
          <a:bodyPr>
            <a:noAutofit/>
          </a:bodyPr>
          <a:lstStyle/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Integrated Decision Support System for Emergency Medical Services: Optimizing Dispatch, Allocation, and Ambulance Relocation.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Heliyon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2026, Volume 12, Issue 13, Article e45259. DOI: 10.1016/j.heliyon.2026.e45259.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Azarnoush and A. Nemati,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4.0 Planning in Emergency Medical Services Considering Real-Time Ambulance Two-Phase Assignment-Routing and Mission Change.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Scientific Reports, 2026, Volume 16, Article 26246. DOI: 10.1038/s41598-026-56495-5.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C. Selvan, B. H. Anwar, S. Naveen, et al.,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Ambulance Route Optimization in a Mobile Ambulance Dispatch System Using Deep Neural Network (DNN).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Scientific Reports, 2025, Volume 15, Article 14232. DOI: 10.1038/s41598-025-95048-0.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Almalki, E.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Aldhahri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N.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Aljojo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Ambulance Routing Optimization Based on Emergency Medical Service Availability.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Discover Artificial Intelligence, 2025, Volume 5, Article 297. DOI: 10.1007/s44163-025-00352-3. </a:t>
            </a:r>
          </a:p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an Ambulance Routing Optimization Model Using the Combination of Machine Learning and Genetic Algorithm in Conditions of Uncertainty.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Systems and Soft Computing, 2025, Volume 7, Article 200276. DOI: 10.1016/j.sasc.2025.200276. 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D3DD6FB8-53E6-3BD7-B9D5-47136EDB06E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186" y="119698"/>
            <a:ext cx="1135116" cy="103632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E2953D2A-AD26-248F-7BE3-C8685C767CC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7698" y="119698"/>
            <a:ext cx="1241721" cy="10363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A070E4-F2C5-764C-7856-A3FFBA24D154}"/>
              </a:ext>
            </a:extLst>
          </p:cNvPr>
          <p:cNvSpPr txBox="1"/>
          <p:nvPr/>
        </p:nvSpPr>
        <p:spPr>
          <a:xfrm>
            <a:off x="4536440" y="509687"/>
            <a:ext cx="3119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REFERNCES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644659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9DA2B-F16E-5FF2-FA28-0F86BEC55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15634-B0C9-809D-1A8D-463C035F3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/>
              <a:t>          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C73D6-C18E-3500-3C84-68637E9BC57B}"/>
              </a:ext>
            </a:extLst>
          </p:cNvPr>
          <p:cNvSpPr txBox="1"/>
          <p:nvPr/>
        </p:nvSpPr>
        <p:spPr>
          <a:xfrm>
            <a:off x="2545080" y="1982450"/>
            <a:ext cx="710184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9360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960</TotalTime>
  <Words>1314</Words>
  <Application>Microsoft Office PowerPoint</Application>
  <PresentationFormat>Widescreen</PresentationFormat>
  <Paragraphs>122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Theme</vt:lpstr>
      <vt:lpstr>  </vt:lpstr>
      <vt:lpstr>   </vt:lpstr>
      <vt:lpstr>PROBLEM STATEMENT</vt:lpstr>
      <vt:lpstr>  </vt:lpstr>
      <vt:lpstr>                </vt:lpstr>
      <vt:lpstr>TECHNIQUES USED</vt:lpstr>
      <vt:lpstr>PowerPoint Presentation</vt:lpstr>
      <vt:lpstr>MODULE 1:DYNAMIC EMERGENCY PRIORITIZATION AND INCIDENT STATE MANAGEMENT</vt:lpstr>
      <vt:lpstr>MODULE 2: COUNTERFACTUAL LOOK-AHEAD AMBULANCE DISPATCH OPTIMIZATION</vt:lpstr>
      <vt:lpstr>MODULE 3: ROAD-DISRUPTION-AWARE ROUTING AND AMBULANCE COVERAGE ASSESSMENT</vt:lpstr>
      <vt:lpstr>MODULE 4: MULTI-SCENARIO PERFORMANCE EVALUATION AND DISPATCH STRATEGY VALIDATION</vt:lpstr>
      <vt:lpstr>ADVANTAGES</vt:lpstr>
      <vt:lpstr>                 </vt:lpstr>
      <vt:lpstr>                  </vt:lpstr>
      <vt:lpstr>  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Anish K</dc:creator>
  <cp:lastModifiedBy>Anish K</cp:lastModifiedBy>
  <cp:revision>135</cp:revision>
  <dcterms:created xsi:type="dcterms:W3CDTF">2026-10-12T12:19:56Z</dcterms:created>
  <dcterms:modified xsi:type="dcterms:W3CDTF">2026-10-27T04:07:55Z</dcterms:modified>
</cp:coreProperties>
</file>